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8.xml" ContentType="application/vnd.openxmlformats-officedocument.theme+xml"/>
  <Override PartName="/ppt/theme/theme5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49" r:id="rId3"/>
    <p:sldMasterId id="2147483650" r:id="rId4"/>
    <p:sldMasterId id="2147483651" r:id="rId5"/>
    <p:sldMasterId id="2147483652" r:id="rId6"/>
    <p:sldMasterId id="2147483653" r:id="rId7"/>
    <p:sldMasterId id="2147483654" r:id="rId8"/>
    <p:sldMasterId id="2147483655" r:id="rId9"/>
    <p:sldMasterId id="2147483656" r:id="rId10"/>
    <p:sldMasterId id="2147483659" r:id="rId11"/>
    <p:sldMasterId id="2147483660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210AD096-A8B4-4F52-BEC6-13F1CC20003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45720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777FF22C-7379-4F19-AEAE-BC8AE769363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D34A980-FE19-4A8D-84DA-AF61CD85D48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E3BB6AF-0421-4796-BDB1-50E6CCAEE68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anchorCtr="1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54776E5-ADF3-4E43-ABFA-039C30285A4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6A21F22-3C76-47E5-B63B-90123EE5241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3707F84-7EDA-4F4E-806C-CC7D3D8D8E3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82201EA-3AFE-470D-9416-C1A3680C739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D713CC3-B12D-4FDC-976D-6BEE7910D2A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21E8BCB-DEFC-4AD7-993A-53DAF12F20A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116044C-3A4B-46A8-8D1E-119CC0BD5E5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2"/>
    <p:sldLayoutId id="2147483658" r:id="rId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641"/>
              </a:spcBef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indent="0" algn="l" defTabSz="457200">
              <a:lnSpc>
                <a:spcPct val="100000"/>
              </a:lnSpc>
              <a:spcBef>
                <a:spcPts val="641"/>
              </a:spcBef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B60AA78-DEB4-4AB8-8433-35CE0827F68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457200">
              <a:spcBef>
                <a:spcPts val="281"/>
              </a:spcBef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0" algn="l" defTabSz="457200">
              <a:spcBef>
                <a:spcPts val="281"/>
              </a:spcBef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8CA9576-7D84-464D-836F-E31C4C33E8C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1"/>
          <p:cNvSpPr/>
          <p:nvPr/>
        </p:nvSpPr>
        <p:spPr>
          <a:xfrm>
            <a:off x="914400" y="1371600"/>
            <a:ext cx="1005804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PlotSure</a:t>
            </a:r>
            <a:endParaRPr lang="en-US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2"/>
          <p:cNvSpPr/>
          <p:nvPr/>
        </p:nvSpPr>
        <p:spPr>
          <a:xfrm>
            <a:off x="914400" y="2286000"/>
            <a:ext cx="1005804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D4A017"/>
                </a:solidFill>
                <a:effectLst/>
                <a:uFillTx/>
                <a:latin typeface="Calibri"/>
              </a:rPr>
              <a:t>AI-Assisted Land Title Verification and Marketplace Platform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Rectangle 3"/>
          <p:cNvSpPr/>
          <p:nvPr/>
        </p:nvSpPr>
        <p:spPr>
          <a:xfrm>
            <a:off x="5029200" y="3200400"/>
            <a:ext cx="2102760" cy="27000"/>
          </a:xfrm>
          <a:prstGeom prst="rect">
            <a:avLst/>
          </a:prstGeom>
          <a:solidFill>
            <a:srgbClr val="D4A01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-17640" rIns="90000" bIns="-17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" name="TextBox 4"/>
          <p:cNvSpPr/>
          <p:nvPr/>
        </p:nvSpPr>
        <p:spPr>
          <a:xfrm>
            <a:off x="914400" y="3474720"/>
            <a:ext cx="1005804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ISBAT University  |  Faculty of Engineering and ICT  |  Final Year Project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5"/>
          <p:cNvSpPr/>
          <p:nvPr/>
        </p:nvSpPr>
        <p:spPr>
          <a:xfrm>
            <a:off x="914400" y="4572000"/>
            <a:ext cx="1005804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CCCCCC"/>
                </a:solidFill>
                <a:effectLst/>
                <a:uFillTx/>
                <a:latin typeface="Calibri"/>
              </a:rPr>
              <a:t>Student: Joel Talemwa  |  Supervisor: Eng. Kibwika Bashir  |  2025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1"/>
          <p:cNvSpPr/>
          <p:nvPr/>
        </p:nvSpPr>
        <p:spPr>
          <a:xfrm>
            <a:off x="0" y="0"/>
            <a:ext cx="136800" cy="6857640"/>
          </a:xfrm>
          <a:prstGeom prst="rect">
            <a:avLst/>
          </a:prstGeom>
          <a:solidFill>
            <a:srgbClr val="1B433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" name="TextBox 2"/>
          <p:cNvSpPr/>
          <p:nvPr/>
        </p:nvSpPr>
        <p:spPr>
          <a:xfrm>
            <a:off x="457200" y="274320"/>
            <a:ext cx="1097244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B4332"/>
                </a:solidFill>
                <a:effectLst/>
                <a:uFillTx/>
                <a:latin typeface="Calibri"/>
              </a:rPr>
              <a:t>2. The Problem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Rectangle 3"/>
          <p:cNvSpPr/>
          <p:nvPr/>
        </p:nvSpPr>
        <p:spPr>
          <a:xfrm>
            <a:off x="457200" y="868680"/>
            <a:ext cx="1828440" cy="36360"/>
          </a:xfrm>
          <a:prstGeom prst="rect">
            <a:avLst/>
          </a:prstGeom>
          <a:solidFill>
            <a:srgbClr val="D4A01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" name="TextBox 4"/>
          <p:cNvSpPr/>
          <p:nvPr/>
        </p:nvSpPr>
        <p:spPr>
          <a:xfrm>
            <a:off x="640080" y="1188720"/>
            <a:ext cx="10515240" cy="169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Land is the single most important economic asset for the majority of Ugandan households.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UgNLIS confirms legal ownership but does NOT detect fraud indicators or price anomalies.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Fraudulent titles are sold to multiple buyers (double selling); boundary manipulation is widespread.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No citizen-facing tool exists to verify ownership history or check for hidden encumbrances.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Consequences: buyers lose lifetime savings; land market loses trust; banks face collateral risk.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5"/>
          <p:cNvSpPr/>
          <p:nvPr/>
        </p:nvSpPr>
        <p:spPr>
          <a:xfrm>
            <a:off x="457200" y="6400800"/>
            <a:ext cx="109724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PlotSure | ISBAT University | 2025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1"/>
          <p:cNvSpPr/>
          <p:nvPr/>
        </p:nvSpPr>
        <p:spPr>
          <a:xfrm>
            <a:off x="0" y="0"/>
            <a:ext cx="136800" cy="6857640"/>
          </a:xfrm>
          <a:prstGeom prst="rect">
            <a:avLst/>
          </a:prstGeom>
          <a:solidFill>
            <a:srgbClr val="1B433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" name="TextBox 2"/>
          <p:cNvSpPr/>
          <p:nvPr/>
        </p:nvSpPr>
        <p:spPr>
          <a:xfrm>
            <a:off x="457200" y="274320"/>
            <a:ext cx="1097244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B4332"/>
                </a:solidFill>
                <a:effectLst/>
                <a:uFillTx/>
                <a:latin typeface="Calibri"/>
              </a:rPr>
              <a:t>3. The Solution: PlotSure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Rectangle 3"/>
          <p:cNvSpPr/>
          <p:nvPr/>
        </p:nvSpPr>
        <p:spPr>
          <a:xfrm>
            <a:off x="457200" y="868680"/>
            <a:ext cx="1828440" cy="36360"/>
          </a:xfrm>
          <a:prstGeom prst="rect">
            <a:avLst/>
          </a:prstGeom>
          <a:solidFill>
            <a:srgbClr val="D4A01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" name="TextBox 4"/>
          <p:cNvSpPr/>
          <p:nvPr/>
        </p:nvSpPr>
        <p:spPr>
          <a:xfrm>
            <a:off x="640080" y="1188720"/>
            <a:ext cx="10515240" cy="102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Two-sided platform: buyers verify land titles; sellers list verified properties.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Three core capabilities: AI fraud detection, heuristic price estimation, verified marketplace.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One-line pitch: "Verify before you buy."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Rounded Rectangle 5"/>
          <p:cNvSpPr/>
          <p:nvPr/>
        </p:nvSpPr>
        <p:spPr>
          <a:xfrm>
            <a:off x="640080" y="3017520"/>
            <a:ext cx="3291480" cy="1645560"/>
          </a:xfrm>
          <a:prstGeom prst="roundRect">
            <a:avLst>
              <a:gd name="adj" fmla="val 16667"/>
            </a:avLst>
          </a:prstGeom>
          <a:solidFill>
            <a:srgbClr val="2D6A4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Fraud Detection</a:t>
            </a:r>
            <a:br>
              <a:rPr sz="1200"/>
            </a:b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Heuristic rules + IsolationForest ML</a:t>
            </a:r>
            <a:br>
              <a:rPr sz="1200"/>
            </a:b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+ Neo4j circular ownership check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Rounded Rectangle 6"/>
          <p:cNvSpPr/>
          <p:nvPr/>
        </p:nvSpPr>
        <p:spPr>
          <a:xfrm>
            <a:off x="4297680" y="3017520"/>
            <a:ext cx="3291480" cy="1645560"/>
          </a:xfrm>
          <a:prstGeom prst="roundRect">
            <a:avLst>
              <a:gd name="adj" fmla="val 16667"/>
            </a:avLst>
          </a:prstGeom>
          <a:solidFill>
            <a:srgbClr val="2D6A4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Price Estimation</a:t>
            </a:r>
            <a:br>
              <a:rPr sz="1200"/>
            </a:b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District-calibrated pricing</a:t>
            </a:r>
            <a:br>
              <a:rPr sz="1200"/>
            </a:b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for Freehold, Leasehold, Mailo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Rounded Rectangle 7"/>
          <p:cNvSpPr/>
          <p:nvPr/>
        </p:nvSpPr>
        <p:spPr>
          <a:xfrm>
            <a:off x="7955280" y="3017520"/>
            <a:ext cx="3291480" cy="1645560"/>
          </a:xfrm>
          <a:prstGeom prst="roundRect">
            <a:avLst>
              <a:gd name="adj" fmla="val 16667"/>
            </a:avLst>
          </a:prstGeom>
          <a:solidFill>
            <a:srgbClr val="2D6A4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Verified Marketplace</a:t>
            </a:r>
            <a:br>
              <a:rPr sz="1200"/>
            </a:b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Approved listings with visible</a:t>
            </a:r>
            <a:br>
              <a:rPr sz="1200"/>
            </a:b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fraud scores for every buyer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8"/>
          <p:cNvSpPr/>
          <p:nvPr/>
        </p:nvSpPr>
        <p:spPr>
          <a:xfrm>
            <a:off x="457200" y="6400800"/>
            <a:ext cx="109724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PlotSure | ISBAT University | 2025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1"/>
          <p:cNvSpPr/>
          <p:nvPr/>
        </p:nvSpPr>
        <p:spPr>
          <a:xfrm>
            <a:off x="0" y="0"/>
            <a:ext cx="136800" cy="6857640"/>
          </a:xfrm>
          <a:prstGeom prst="rect">
            <a:avLst/>
          </a:prstGeom>
          <a:solidFill>
            <a:srgbClr val="1B433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" name="TextBox 2"/>
          <p:cNvSpPr/>
          <p:nvPr/>
        </p:nvSpPr>
        <p:spPr>
          <a:xfrm>
            <a:off x="457200" y="274320"/>
            <a:ext cx="1097244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B4332"/>
                </a:solidFill>
                <a:effectLst/>
                <a:uFillTx/>
                <a:latin typeface="Calibri"/>
              </a:rPr>
              <a:t>4. System Architecture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Rectangle 3"/>
          <p:cNvSpPr/>
          <p:nvPr/>
        </p:nvSpPr>
        <p:spPr>
          <a:xfrm>
            <a:off x="457200" y="868680"/>
            <a:ext cx="1828440" cy="36360"/>
          </a:xfrm>
          <a:prstGeom prst="rect">
            <a:avLst/>
          </a:prstGeom>
          <a:solidFill>
            <a:srgbClr val="D4A01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" name="Rounded Rectangle 4"/>
          <p:cNvSpPr/>
          <p:nvPr/>
        </p:nvSpPr>
        <p:spPr>
          <a:xfrm>
            <a:off x="457200" y="1371600"/>
            <a:ext cx="2011320" cy="822600"/>
          </a:xfrm>
          <a:prstGeom prst="roundRect">
            <a:avLst>
              <a:gd name="adj" fmla="val 16667"/>
            </a:avLst>
          </a:prstGeom>
          <a:solidFill>
            <a:srgbClr val="1B433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Vercel</a:t>
            </a:r>
            <a:br>
              <a:rPr sz="1000"/>
            </a:b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React + Vite + TS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Rounded Rectangle 5"/>
          <p:cNvSpPr/>
          <p:nvPr/>
        </p:nvSpPr>
        <p:spPr>
          <a:xfrm>
            <a:off x="3291840" y="1371600"/>
            <a:ext cx="1828440" cy="822600"/>
          </a:xfrm>
          <a:prstGeom prst="roundRect">
            <a:avLst>
              <a:gd name="adj" fmla="val 16667"/>
            </a:avLst>
          </a:prstGeom>
          <a:solidFill>
            <a:srgbClr val="2D6A4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FastAPI</a:t>
            </a:r>
            <a:br>
              <a:rPr sz="1000"/>
            </a:b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Backend (26 endpoints)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Rounded Rectangle 6"/>
          <p:cNvSpPr/>
          <p:nvPr/>
        </p:nvSpPr>
        <p:spPr>
          <a:xfrm>
            <a:off x="5943600" y="1371600"/>
            <a:ext cx="1828440" cy="822600"/>
          </a:xfrm>
          <a:prstGeom prst="roundRect">
            <a:avLst>
              <a:gd name="adj" fmla="val 16667"/>
            </a:avLst>
          </a:prstGeom>
          <a:solidFill>
            <a:srgbClr val="2D6A4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Supabase</a:t>
            </a:r>
            <a:br>
              <a:rPr sz="1000"/>
            </a:b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PostgreSQL + Auth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Rounded Rectangle 7"/>
          <p:cNvSpPr/>
          <p:nvPr/>
        </p:nvSpPr>
        <p:spPr>
          <a:xfrm>
            <a:off x="8686800" y="1371600"/>
            <a:ext cx="1828440" cy="822600"/>
          </a:xfrm>
          <a:prstGeom prst="roundRect">
            <a:avLst>
              <a:gd name="adj" fmla="val 16667"/>
            </a:avLst>
          </a:prstGeom>
          <a:solidFill>
            <a:srgbClr val="1B433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Neo4j AuraDB</a:t>
            </a:r>
            <a:br>
              <a:rPr sz="1000"/>
            </a:b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Ownership graph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Rounded Rectangle 8"/>
          <p:cNvSpPr/>
          <p:nvPr/>
        </p:nvSpPr>
        <p:spPr>
          <a:xfrm>
            <a:off x="457200" y="3017520"/>
            <a:ext cx="2011320" cy="822600"/>
          </a:xfrm>
          <a:prstGeom prst="roundRect">
            <a:avLst>
              <a:gd name="adj" fmla="val 16667"/>
            </a:avLst>
          </a:prstGeom>
          <a:solidFill>
            <a:srgbClr val="8B4513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Redpanda Cloud</a:t>
            </a:r>
            <a:br>
              <a:rPr sz="1000"/>
            </a:b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fraud-checks topic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Rounded Rectangle 9"/>
          <p:cNvSpPr/>
          <p:nvPr/>
        </p:nvSpPr>
        <p:spPr>
          <a:xfrm>
            <a:off x="3291840" y="3017520"/>
            <a:ext cx="1828440" cy="822600"/>
          </a:xfrm>
          <a:prstGeom prst="roundRect">
            <a:avLst>
              <a:gd name="adj" fmla="val 16667"/>
            </a:avLst>
          </a:prstGeom>
          <a:solidFill>
            <a:srgbClr val="A0522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Fraud Worker</a:t>
            </a:r>
            <a:br>
              <a:rPr sz="1000"/>
            </a:b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Python consumer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Rounded Rectangle 10"/>
          <p:cNvSpPr/>
          <p:nvPr/>
        </p:nvSpPr>
        <p:spPr>
          <a:xfrm>
            <a:off x="5943600" y="3017520"/>
            <a:ext cx="1828440" cy="822600"/>
          </a:xfrm>
          <a:prstGeom prst="roundRect">
            <a:avLst>
              <a:gd name="adj" fmla="val 16667"/>
            </a:avLst>
          </a:prstGeom>
          <a:solidFill>
            <a:srgbClr val="A0522D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DLQ Handler</a:t>
            </a:r>
            <a:br>
              <a:rPr sz="1000"/>
            </a:b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Dead-letter processor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Rounded Rectangle 11"/>
          <p:cNvSpPr/>
          <p:nvPr/>
        </p:nvSpPr>
        <p:spPr>
          <a:xfrm>
            <a:off x="8686800" y="3017520"/>
            <a:ext cx="1828440" cy="822600"/>
          </a:xfrm>
          <a:prstGeom prst="roundRect">
            <a:avLst>
              <a:gd name="adj" fmla="val 16667"/>
            </a:avLst>
          </a:prstGeom>
          <a:solidFill>
            <a:srgbClr val="2D6A4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Supabase</a:t>
            </a:r>
            <a:br>
              <a:rPr sz="1000"/>
            </a:b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Fraud results stored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Rounded Rectangle 12"/>
          <p:cNvSpPr/>
          <p:nvPr/>
        </p:nvSpPr>
        <p:spPr>
          <a:xfrm>
            <a:off x="457200" y="4389120"/>
            <a:ext cx="2011320" cy="822600"/>
          </a:xfrm>
          <a:prstGeom prst="roundRect">
            <a:avLst>
              <a:gd name="adj" fmla="val 16667"/>
            </a:avLst>
          </a:prstGeom>
          <a:solidFill>
            <a:srgbClr val="66666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Nominatim</a:t>
            </a:r>
            <a:br>
              <a:rPr sz="1000"/>
            </a:b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Geocoding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Rounded Rectangle 13"/>
          <p:cNvSpPr/>
          <p:nvPr/>
        </p:nvSpPr>
        <p:spPr>
          <a:xfrm>
            <a:off x="3291840" y="4389120"/>
            <a:ext cx="1828440" cy="822600"/>
          </a:xfrm>
          <a:prstGeom prst="roundRect">
            <a:avLst>
              <a:gd name="adj" fmla="val 16667"/>
            </a:avLst>
          </a:prstGeom>
          <a:solidFill>
            <a:srgbClr val="66666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scikit-learn</a:t>
            </a:r>
            <a:br>
              <a:rPr sz="1000"/>
            </a:b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IsolationForest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Rounded Rectangle 14"/>
          <p:cNvSpPr/>
          <p:nvPr/>
        </p:nvSpPr>
        <p:spPr>
          <a:xfrm>
            <a:off x="5943600" y="4389120"/>
            <a:ext cx="1828440" cy="822600"/>
          </a:xfrm>
          <a:prstGeom prst="roundRect">
            <a:avLst>
              <a:gd name="adj" fmla="val 16667"/>
            </a:avLst>
          </a:prstGeom>
          <a:solidFill>
            <a:srgbClr val="66666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Render (free)</a:t>
            </a:r>
            <a:br>
              <a:rPr sz="1000"/>
            </a:b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Backend hosting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Rounded Rectangle 15"/>
          <p:cNvSpPr/>
          <p:nvPr/>
        </p:nvSpPr>
        <p:spPr>
          <a:xfrm>
            <a:off x="8686800" y="4389120"/>
            <a:ext cx="1828440" cy="822600"/>
          </a:xfrm>
          <a:prstGeom prst="roundRect">
            <a:avLst>
              <a:gd name="adj" fmla="val 16667"/>
            </a:avLst>
          </a:prstGeom>
          <a:solidFill>
            <a:srgbClr val="666666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cron-job.org</a:t>
            </a:r>
            <a:br>
              <a:rPr sz="1000"/>
            </a:b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Keep-alive ping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16"/>
          <p:cNvSpPr/>
          <p:nvPr/>
        </p:nvSpPr>
        <p:spPr>
          <a:xfrm>
            <a:off x="457200" y="2377440"/>
            <a:ext cx="18284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Frontend → API → DB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17"/>
          <p:cNvSpPr/>
          <p:nvPr/>
        </p:nvSpPr>
        <p:spPr>
          <a:xfrm>
            <a:off x="457200" y="4023360"/>
            <a:ext cx="18284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Async fraud pipeline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18"/>
          <p:cNvSpPr/>
          <p:nvPr/>
        </p:nvSpPr>
        <p:spPr>
          <a:xfrm>
            <a:off x="457200" y="5394960"/>
            <a:ext cx="18284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Infrastructure services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19"/>
          <p:cNvSpPr/>
          <p:nvPr/>
        </p:nvSpPr>
        <p:spPr>
          <a:xfrm>
            <a:off x="457200" y="6400800"/>
            <a:ext cx="109724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PlotSure | ISBAT University | 2025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1"/>
          <p:cNvSpPr/>
          <p:nvPr/>
        </p:nvSpPr>
        <p:spPr>
          <a:xfrm>
            <a:off x="0" y="0"/>
            <a:ext cx="136800" cy="6857640"/>
          </a:xfrm>
          <a:prstGeom prst="rect">
            <a:avLst/>
          </a:prstGeom>
          <a:solidFill>
            <a:srgbClr val="1B433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" name="TextBox 2"/>
          <p:cNvSpPr/>
          <p:nvPr/>
        </p:nvSpPr>
        <p:spPr>
          <a:xfrm>
            <a:off x="457200" y="274320"/>
            <a:ext cx="1097244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B4332"/>
                </a:solidFill>
                <a:effectLst/>
                <a:uFillTx/>
                <a:latin typeface="Calibri"/>
              </a:rPr>
              <a:t>5. Core Feature: Fraud Detection Pipeline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Rectangle 3"/>
          <p:cNvSpPr/>
          <p:nvPr/>
        </p:nvSpPr>
        <p:spPr>
          <a:xfrm>
            <a:off x="457200" y="868680"/>
            <a:ext cx="1828440" cy="36360"/>
          </a:xfrm>
          <a:prstGeom prst="rect">
            <a:avLst/>
          </a:prstGeom>
          <a:solidFill>
            <a:srgbClr val="D4A01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" name="TextBox 4"/>
          <p:cNvSpPr/>
          <p:nvPr/>
        </p:nvSpPr>
        <p:spPr>
          <a:xfrm>
            <a:off x="640080" y="1188720"/>
            <a:ext cx="10515240" cy="15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Two-phase: synchronous preliminary score in &lt;500ms; async deep analysis via Redpanda in background.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Heuristic indicators: price &gt; UGX 2B, small plot + high price, frequent verifications, recent transfers.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IsolationForest ML: unsupervised anomaly detection on plot size, price, district, land type.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Neo4j circular ownership: Cypher query detects persons appearing multiple times in one chain.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Risk levels: LOW (no flags), MEDIUM (one source flags), HIGH (both Neo4j and ML flag).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Rounded Rectangle 5"/>
          <p:cNvSpPr/>
          <p:nvPr/>
        </p:nvSpPr>
        <p:spPr>
          <a:xfrm>
            <a:off x="1371600" y="4846320"/>
            <a:ext cx="2285640" cy="548280"/>
          </a:xfrm>
          <a:prstGeom prst="roundRect">
            <a:avLst>
              <a:gd name="adj" fmla="val 16667"/>
            </a:avLst>
          </a:prstGeom>
          <a:solidFill>
            <a:srgbClr val="1B433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LOW  — No flags raised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Rounded Rectangle 6"/>
          <p:cNvSpPr/>
          <p:nvPr/>
        </p:nvSpPr>
        <p:spPr>
          <a:xfrm>
            <a:off x="4114800" y="4846320"/>
            <a:ext cx="2285640" cy="548280"/>
          </a:xfrm>
          <a:prstGeom prst="roundRect">
            <a:avLst>
              <a:gd name="adj" fmla="val 16667"/>
            </a:avLst>
          </a:prstGeom>
          <a:solidFill>
            <a:srgbClr val="D4A01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MEDIUM — One source flags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Rounded Rectangle 7"/>
          <p:cNvSpPr/>
          <p:nvPr/>
        </p:nvSpPr>
        <p:spPr>
          <a:xfrm>
            <a:off x="6858000" y="4846320"/>
            <a:ext cx="2285640" cy="548280"/>
          </a:xfrm>
          <a:prstGeom prst="roundRect">
            <a:avLst>
              <a:gd name="adj" fmla="val 16667"/>
            </a:avLst>
          </a:prstGeom>
          <a:solidFill>
            <a:srgbClr val="CC3333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HIGH — Both Neo4j + ML flag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8"/>
          <p:cNvSpPr/>
          <p:nvPr/>
        </p:nvSpPr>
        <p:spPr>
          <a:xfrm>
            <a:off x="457200" y="6400800"/>
            <a:ext cx="109724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PlotSure | ISBAT University | 2025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Rectangle 1"/>
          <p:cNvSpPr/>
          <p:nvPr/>
        </p:nvSpPr>
        <p:spPr>
          <a:xfrm>
            <a:off x="0" y="0"/>
            <a:ext cx="136800" cy="6857640"/>
          </a:xfrm>
          <a:prstGeom prst="rect">
            <a:avLst/>
          </a:prstGeom>
          <a:solidFill>
            <a:srgbClr val="1B433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9" name="TextBox 2"/>
          <p:cNvSpPr/>
          <p:nvPr/>
        </p:nvSpPr>
        <p:spPr>
          <a:xfrm>
            <a:off x="457200" y="274320"/>
            <a:ext cx="1097244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B4332"/>
                </a:solidFill>
                <a:effectLst/>
                <a:uFillTx/>
                <a:latin typeface="Calibri"/>
              </a:rPr>
              <a:t>6. Core Feature: Ownership Graph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Rectangle 3"/>
          <p:cNvSpPr/>
          <p:nvPr/>
        </p:nvSpPr>
        <p:spPr>
          <a:xfrm>
            <a:off x="457200" y="868680"/>
            <a:ext cx="1828440" cy="36360"/>
          </a:xfrm>
          <a:prstGeom prst="rect">
            <a:avLst/>
          </a:prstGeom>
          <a:solidFill>
            <a:srgbClr val="D4A01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1" name="TextBox 4"/>
          <p:cNvSpPr/>
          <p:nvPr/>
        </p:nvSpPr>
        <p:spPr>
          <a:xfrm>
            <a:off x="640080" y="1188720"/>
            <a:ext cx="10515240" cy="258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Neo4j AuraDB stores Person and Plot nodes with OWNED relationships — built for ownership chains that PostgreSQL JOINs cannot efficiently traverse.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Cypher: MATCH (p:Person)-[r:OWNED]-&gt;(plot:Plot {ref: $ref}) — retrieves every owner of a plot ordered by date.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Reverse lookup: enter a person’s name to retrieve every plot they have ever owned.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Cytoscape.js renders the graph interactively in the browser — buyers explore ownership history without technical skill.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What PostgreSQL cannot do: detect circular ownership, or traverse many-to-many ownership relationships efficiently.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Box 5"/>
          <p:cNvSpPr/>
          <p:nvPr/>
        </p:nvSpPr>
        <p:spPr>
          <a:xfrm>
            <a:off x="457200" y="6400800"/>
            <a:ext cx="109724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PlotSure | ISBAT University | 2025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Rectangle 1"/>
          <p:cNvSpPr/>
          <p:nvPr/>
        </p:nvSpPr>
        <p:spPr>
          <a:xfrm>
            <a:off x="0" y="0"/>
            <a:ext cx="136800" cy="6857640"/>
          </a:xfrm>
          <a:prstGeom prst="rect">
            <a:avLst/>
          </a:prstGeom>
          <a:solidFill>
            <a:srgbClr val="1B433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" name="TextBox 2"/>
          <p:cNvSpPr/>
          <p:nvPr/>
        </p:nvSpPr>
        <p:spPr>
          <a:xfrm>
            <a:off x="457200" y="274320"/>
            <a:ext cx="1097244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B4332"/>
                </a:solidFill>
                <a:effectLst/>
                <a:uFillTx/>
                <a:latin typeface="Calibri"/>
              </a:rPr>
              <a:t>7. Core Feature: Verified Marketplace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Rectangle 3"/>
          <p:cNvSpPr/>
          <p:nvPr/>
        </p:nvSpPr>
        <p:spPr>
          <a:xfrm>
            <a:off x="457200" y="868680"/>
            <a:ext cx="1828440" cy="36360"/>
          </a:xfrm>
          <a:prstGeom prst="rect">
            <a:avLst/>
          </a:prstGeom>
          <a:solidFill>
            <a:srgbClr val="D4A01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6" name="Rounded Rectangle 4"/>
          <p:cNvSpPr/>
          <p:nvPr/>
        </p:nvSpPr>
        <p:spPr>
          <a:xfrm>
            <a:off x="457200" y="1371600"/>
            <a:ext cx="3382920" cy="639720"/>
          </a:xfrm>
          <a:prstGeom prst="roundRect">
            <a:avLst>
              <a:gd name="adj" fmla="val 16667"/>
            </a:avLst>
          </a:prstGeom>
          <a:solidFill>
            <a:srgbClr val="1B433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Seller Workflow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Box 5"/>
          <p:cNvSpPr/>
          <p:nvPr/>
        </p:nvSpPr>
        <p:spPr>
          <a:xfrm>
            <a:off x="640080" y="2194560"/>
            <a:ext cx="3200040" cy="11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• Create listing with plot details + price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• Fraud check runs (sync + async)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• Listing: PENDING → ACTIVE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• Edit, track views, receive inquiries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Rounded Rectangle 6"/>
          <p:cNvSpPr/>
          <p:nvPr/>
        </p:nvSpPr>
        <p:spPr>
          <a:xfrm>
            <a:off x="4206240" y="1371600"/>
            <a:ext cx="3382920" cy="639720"/>
          </a:xfrm>
          <a:prstGeom prst="roundRect">
            <a:avLst>
              <a:gd name="adj" fmla="val 16667"/>
            </a:avLst>
          </a:prstGeom>
          <a:solidFill>
            <a:srgbClr val="2D6A4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Buyer Workflow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Box 7"/>
          <p:cNvSpPr/>
          <p:nvPr/>
        </p:nvSpPr>
        <p:spPr>
          <a:xfrm>
            <a:off x="4389120" y="2194560"/>
            <a:ext cx="3200040" cy="11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• Browse marketplace listings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• View fraud score + risk badge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• Explore ownership graph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• Submit inquiry to seller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Rounded Rectangle 8"/>
          <p:cNvSpPr/>
          <p:nvPr/>
        </p:nvSpPr>
        <p:spPr>
          <a:xfrm>
            <a:off x="7991280" y="1371600"/>
            <a:ext cx="3382920" cy="639720"/>
          </a:xfrm>
          <a:prstGeom prst="roundRect">
            <a:avLst>
              <a:gd name="adj" fmla="val 16667"/>
            </a:avLst>
          </a:prstGeom>
          <a:solidFill>
            <a:srgbClr val="D4A01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Admin Workflow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Box 9"/>
          <p:cNvSpPr/>
          <p:nvPr/>
        </p:nvSpPr>
        <p:spPr>
          <a:xfrm>
            <a:off x="8138160" y="2194560"/>
            <a:ext cx="3200040" cy="11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• Approve / reject pending listings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• Retry failed fraud checks from DLQ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• Manage system settings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• View market analytics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Box 10"/>
          <p:cNvSpPr/>
          <p:nvPr/>
        </p:nvSpPr>
        <p:spPr>
          <a:xfrm>
            <a:off x="457200" y="6400800"/>
            <a:ext cx="109724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PlotSure | ISBAT University | 2025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tangle 1"/>
          <p:cNvSpPr/>
          <p:nvPr/>
        </p:nvSpPr>
        <p:spPr>
          <a:xfrm>
            <a:off x="0" y="0"/>
            <a:ext cx="136800" cy="6857640"/>
          </a:xfrm>
          <a:prstGeom prst="rect">
            <a:avLst/>
          </a:prstGeom>
          <a:solidFill>
            <a:srgbClr val="1B433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" name="TextBox 2"/>
          <p:cNvSpPr/>
          <p:nvPr/>
        </p:nvSpPr>
        <p:spPr>
          <a:xfrm>
            <a:off x="457200" y="274320"/>
            <a:ext cx="1097244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B4332"/>
                </a:solidFill>
                <a:effectLst/>
                <a:uFillTx/>
                <a:latin typeface="Calibri"/>
              </a:rPr>
              <a:t>8. Core Feature: Price Estimation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Rectangle 3"/>
          <p:cNvSpPr/>
          <p:nvPr/>
        </p:nvSpPr>
        <p:spPr>
          <a:xfrm>
            <a:off x="457200" y="868680"/>
            <a:ext cx="1828440" cy="36360"/>
          </a:xfrm>
          <a:prstGeom prst="rect">
            <a:avLst/>
          </a:prstGeom>
          <a:solidFill>
            <a:srgbClr val="D4A01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" name="TextBox 4"/>
          <p:cNvSpPr/>
          <p:nvPr/>
        </p:nvSpPr>
        <p:spPr>
          <a:xfrm>
            <a:off x="640080" y="1188720"/>
            <a:ext cx="10515240" cy="258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Heuristic estimates calibrated against 50+ district reference tables for the Uganda land market (2025–2026 data).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Land type multipliers: Freehold (x1.0), Leasehold (x0.85), Mailo (x1.1) — reflecting tenure system market premiums.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Unit conversion: Acres → Decimals (x10), Sq Metres → Decimals (÷405) — normalises all inputs to standard unit.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Output: price_min – price_max range displayed as UGX X.XM – Y.YM — transparent, explainable, no black-box pricing.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Data: district-level price bands for residential, commercial, and agricultural property types.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Box 5"/>
          <p:cNvSpPr/>
          <p:nvPr/>
        </p:nvSpPr>
        <p:spPr>
          <a:xfrm>
            <a:off x="457200" y="6400800"/>
            <a:ext cx="109724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PlotSure | ISBAT University | 2025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Rectangle 1"/>
          <p:cNvSpPr/>
          <p:nvPr/>
        </p:nvSpPr>
        <p:spPr>
          <a:xfrm>
            <a:off x="0" y="0"/>
            <a:ext cx="136800" cy="6857640"/>
          </a:xfrm>
          <a:prstGeom prst="rect">
            <a:avLst/>
          </a:prstGeom>
          <a:solidFill>
            <a:srgbClr val="1B433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" name="TextBox 2"/>
          <p:cNvSpPr/>
          <p:nvPr/>
        </p:nvSpPr>
        <p:spPr>
          <a:xfrm>
            <a:off x="457200" y="274320"/>
            <a:ext cx="1097244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B4332"/>
                </a:solidFill>
                <a:effectLst/>
                <a:uFillTx/>
                <a:latin typeface="Calibri"/>
              </a:rPr>
              <a:t>9. Core Feature: Verification Certificate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Rectangle 3"/>
          <p:cNvSpPr/>
          <p:nvPr/>
        </p:nvSpPr>
        <p:spPr>
          <a:xfrm>
            <a:off x="457200" y="868680"/>
            <a:ext cx="1828440" cy="36360"/>
          </a:xfrm>
          <a:prstGeom prst="rect">
            <a:avLst/>
          </a:prstGeom>
          <a:solidFill>
            <a:srgbClr val="D4A01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" name="TextBox 4"/>
          <p:cNvSpPr/>
          <p:nvPr/>
        </p:nvSpPr>
        <p:spPr>
          <a:xfrm>
            <a:off x="640080" y="1188720"/>
            <a:ext cx="10515240" cy="161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Tamper-evident PDF certificate generated on demand — no new DB tables or migrations required.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SHA-256 hash from 4 deterministic fields: plot_reference, fraud_risk_level, created_at, user_id.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Certificate includes: PlotSure branding, plot ref, risk level, verification timestamp, SHA-256 hash in footer.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Public check endpoint: anyone verifies a certificate without logging in — hash recomputed and matched.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Zero disk writes: reportlab generates A4 PDF entirely in memory (io.BytesIO).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Box 5"/>
          <p:cNvSpPr/>
          <p:nvPr/>
        </p:nvSpPr>
        <p:spPr>
          <a:xfrm>
            <a:off x="457200" y="6400800"/>
            <a:ext cx="109724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PlotSure | ISBAT University | 2025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Rectangle 1"/>
          <p:cNvSpPr/>
          <p:nvPr/>
        </p:nvSpPr>
        <p:spPr>
          <a:xfrm>
            <a:off x="0" y="0"/>
            <a:ext cx="136800" cy="6857640"/>
          </a:xfrm>
          <a:prstGeom prst="rect">
            <a:avLst/>
          </a:prstGeom>
          <a:solidFill>
            <a:srgbClr val="1B433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" name="TextBox 2"/>
          <p:cNvSpPr/>
          <p:nvPr/>
        </p:nvSpPr>
        <p:spPr>
          <a:xfrm>
            <a:off x="457200" y="274320"/>
            <a:ext cx="1097244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B4332"/>
                </a:solidFill>
                <a:effectLst/>
                <a:uFillTx/>
                <a:latin typeface="Calibri"/>
              </a:rPr>
              <a:t>10. API and Technical Depth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Rectangle 3"/>
          <p:cNvSpPr/>
          <p:nvPr/>
        </p:nvSpPr>
        <p:spPr>
          <a:xfrm>
            <a:off x="457200" y="868680"/>
            <a:ext cx="1828440" cy="36360"/>
          </a:xfrm>
          <a:prstGeom prst="rect">
            <a:avLst/>
          </a:prstGeom>
          <a:solidFill>
            <a:srgbClr val="D4A01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" name="TextBox 4"/>
          <p:cNvSpPr/>
          <p:nvPr/>
        </p:nvSpPr>
        <p:spPr>
          <a:xfrm>
            <a:off x="640080" y="1188720"/>
            <a:ext cx="10515240" cy="28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26 endpoints across 11 modules: auth, verify (incl. certificates), listings, inquiries, graph, analytics, admin, history, ML, GIS.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JWT auth with role-based access (buyer / seller / admin) — enforced via get_current_user() on every protected route.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Async patterns: FastAPI async handlers, async Neo4j driver, Kafka consumers (fraud_worker + dlq_handler) as standalone processes.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Graceful degradation: if Kafka is unavailable, fraud checks run synchronously — user-facing flow never breaks.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Security: Supabase JWT validation, CORS restricted to FRONTEND_URL, rate limiting via slowapi, RLS on every table.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Box 5"/>
          <p:cNvSpPr/>
          <p:nvPr/>
        </p:nvSpPr>
        <p:spPr>
          <a:xfrm>
            <a:off x="457200" y="6400800"/>
            <a:ext cx="109724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PlotSure | ISBAT University | 2025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Rectangle 1"/>
          <p:cNvSpPr/>
          <p:nvPr/>
        </p:nvSpPr>
        <p:spPr>
          <a:xfrm>
            <a:off x="0" y="0"/>
            <a:ext cx="136800" cy="6857640"/>
          </a:xfrm>
          <a:prstGeom prst="rect">
            <a:avLst/>
          </a:prstGeom>
          <a:solidFill>
            <a:srgbClr val="1B433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" name="TextBox 2"/>
          <p:cNvSpPr/>
          <p:nvPr/>
        </p:nvSpPr>
        <p:spPr>
          <a:xfrm>
            <a:off x="457200" y="274320"/>
            <a:ext cx="1097244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B4332"/>
                </a:solidFill>
                <a:effectLst/>
                <a:uFillTx/>
                <a:latin typeface="Calibri"/>
              </a:rPr>
              <a:t>11. Testing and Validation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Rectangle 3"/>
          <p:cNvSpPr/>
          <p:nvPr/>
        </p:nvSpPr>
        <p:spPr>
          <a:xfrm>
            <a:off x="457200" y="868680"/>
            <a:ext cx="1828440" cy="36360"/>
          </a:xfrm>
          <a:prstGeom prst="rect">
            <a:avLst/>
          </a:prstGeom>
          <a:solidFill>
            <a:srgbClr val="D4A01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1" name="TextBox 4"/>
          <p:cNvSpPr/>
          <p:nvPr/>
        </p:nvSpPr>
        <p:spPr>
          <a:xfrm>
            <a:off x="640080" y="1188720"/>
            <a:ext cx="10515240" cy="21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110 automated pytest cases across 11 test files — verification, fraud detection, ML, pricing, auth, admin, graph, Kafka, fraud worker, DLQ handler, verify endpoints.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Unit tests (mocked Neo4j, Kafka, Supabase) + module integration tests + end-to-end API flow tests.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Structured manual test plan: auth, buyer/seller workflows, marketplace, certificates, graph, map view.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Two issues found and fixed: error responses returning 200 → proper HTTPException; async worker crash on empty topic → idempotency guard.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User acceptance testing confirmed usability for non-technical participants.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Box 5"/>
          <p:cNvSpPr/>
          <p:nvPr/>
        </p:nvSpPr>
        <p:spPr>
          <a:xfrm>
            <a:off x="457200" y="6400800"/>
            <a:ext cx="109724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PlotSure | ISBAT University | 2025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Rectangle 1"/>
          <p:cNvSpPr/>
          <p:nvPr/>
        </p:nvSpPr>
        <p:spPr>
          <a:xfrm>
            <a:off x="0" y="0"/>
            <a:ext cx="136800" cy="6857640"/>
          </a:xfrm>
          <a:prstGeom prst="rect">
            <a:avLst/>
          </a:prstGeom>
          <a:solidFill>
            <a:srgbClr val="1B433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4" name="TextBox 2"/>
          <p:cNvSpPr/>
          <p:nvPr/>
        </p:nvSpPr>
        <p:spPr>
          <a:xfrm>
            <a:off x="457200" y="274320"/>
            <a:ext cx="1097244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B4332"/>
                </a:solidFill>
                <a:effectLst/>
                <a:uFillTx/>
                <a:latin typeface="Calibri"/>
              </a:rPr>
              <a:t>12. Deployment and Economic Feasibility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Rectangle 3"/>
          <p:cNvSpPr/>
          <p:nvPr/>
        </p:nvSpPr>
        <p:spPr>
          <a:xfrm>
            <a:off x="457200" y="868680"/>
            <a:ext cx="1828440" cy="36360"/>
          </a:xfrm>
          <a:prstGeom prst="rect">
            <a:avLst/>
          </a:prstGeom>
          <a:solidFill>
            <a:srgbClr val="D4A01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6" name="TextBox 4"/>
          <p:cNvSpPr/>
          <p:nvPr/>
        </p:nvSpPr>
        <p:spPr>
          <a:xfrm>
            <a:off x="640080" y="1188720"/>
            <a:ext cx="10515240" cy="21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Backend: FastAPI on Render (free tier, Docker, auto HTTPS). Frontend: React/Vite on Vercel (auto-deploy, global CDN).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Managed services (all free): Supabase, Neo4j AuraDB (200k nodes), Redpanda Cloud (10k msgs/day), Nominatim.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Keep-alive: cron-job.org pings Render /health every 14 min. Sync fallback covers cold-start window.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Operational cost: UGX 0 during demo (all free tiers). Always-on: ~UGX 25,000/month (Render paid tier).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Migration from free to paid is a Render dashboard config change — no code modification needed.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Box 5"/>
          <p:cNvSpPr/>
          <p:nvPr/>
        </p:nvSpPr>
        <p:spPr>
          <a:xfrm>
            <a:off x="457200" y="6400800"/>
            <a:ext cx="109724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PlotSure | ISBAT University | 2025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Rectangle 1"/>
          <p:cNvSpPr/>
          <p:nvPr/>
        </p:nvSpPr>
        <p:spPr>
          <a:xfrm>
            <a:off x="0" y="0"/>
            <a:ext cx="136800" cy="6857640"/>
          </a:xfrm>
          <a:prstGeom prst="rect">
            <a:avLst/>
          </a:prstGeom>
          <a:solidFill>
            <a:srgbClr val="1B433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9" name="TextBox 2"/>
          <p:cNvSpPr/>
          <p:nvPr/>
        </p:nvSpPr>
        <p:spPr>
          <a:xfrm>
            <a:off x="457200" y="274320"/>
            <a:ext cx="1097244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B4332"/>
                </a:solidFill>
                <a:effectLst/>
                <a:uFillTx/>
                <a:latin typeface="Calibri"/>
              </a:rPr>
              <a:t>13. Limitations and Honest Assessment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Rectangle 3"/>
          <p:cNvSpPr/>
          <p:nvPr/>
        </p:nvSpPr>
        <p:spPr>
          <a:xfrm>
            <a:off x="457200" y="868680"/>
            <a:ext cx="1828440" cy="36360"/>
          </a:xfrm>
          <a:prstGeom prst="rect">
            <a:avLst/>
          </a:prstGeom>
          <a:solidFill>
            <a:srgbClr val="D4A01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1" name="TextBox 4"/>
          <p:cNvSpPr/>
          <p:nvPr/>
        </p:nvSpPr>
        <p:spPr>
          <a:xfrm>
            <a:off x="640080" y="1188720"/>
            <a:ext cx="10515240" cy="185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Fraud model not validated against real confirmed fraud cases — no labelled dataset from UgNLIS was available.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No live UgNLIS integration — all demonstrations use synthetic land data.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Single point of failure: Supabase (DB, auth, storage) — no read replica or failover in MVP.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No automated integration tests against live Neo4j or Redpanda — mocks cover these dependencies.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Seller identity is self-attestation only — system records the declaration but does not verify against a registry.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Box 5"/>
          <p:cNvSpPr/>
          <p:nvPr/>
        </p:nvSpPr>
        <p:spPr>
          <a:xfrm>
            <a:off x="457200" y="6400800"/>
            <a:ext cx="109724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PlotSure | ISBAT University | 2025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1"/>
          <p:cNvSpPr/>
          <p:nvPr/>
        </p:nvSpPr>
        <p:spPr>
          <a:xfrm>
            <a:off x="0" y="0"/>
            <a:ext cx="136800" cy="6857640"/>
          </a:xfrm>
          <a:prstGeom prst="rect">
            <a:avLst/>
          </a:prstGeom>
          <a:solidFill>
            <a:srgbClr val="1B433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4" name="TextBox 2"/>
          <p:cNvSpPr/>
          <p:nvPr/>
        </p:nvSpPr>
        <p:spPr>
          <a:xfrm>
            <a:off x="457200" y="274320"/>
            <a:ext cx="1097244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B4332"/>
                </a:solidFill>
                <a:effectLst/>
                <a:uFillTx/>
                <a:latin typeface="Calibri"/>
              </a:rPr>
              <a:t>14. Contributions and Impact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Rectangle 3"/>
          <p:cNvSpPr/>
          <p:nvPr/>
        </p:nvSpPr>
        <p:spPr>
          <a:xfrm>
            <a:off x="457200" y="868680"/>
            <a:ext cx="1828440" cy="36360"/>
          </a:xfrm>
          <a:prstGeom prst="rect">
            <a:avLst/>
          </a:prstGeom>
          <a:solidFill>
            <a:srgbClr val="D4A01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6" name="TextBox 4"/>
          <p:cNvSpPr/>
          <p:nvPr/>
        </p:nvSpPr>
        <p:spPr>
          <a:xfrm>
            <a:off x="640080" y="1188720"/>
            <a:ext cx="10515240" cy="226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Demonstrates a citizen-facing land verification and marketplace platform built entirely on free and open-source technologies — economically feasible for Uganda.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Establishes a risk scoring framework combining heuristic rules with IsolationForest ML, adapted to Uganda’s incomplete-record data environment.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Reference implementation of a hash-verified digital certificate that a land office could adopt without altering its underlying registry.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Verified-property marketplace where fraud score is a first-class listing attribute — a trust layer on top of existing government infrastructure without replacing it.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Box 5"/>
          <p:cNvSpPr/>
          <p:nvPr/>
        </p:nvSpPr>
        <p:spPr>
          <a:xfrm>
            <a:off x="457200" y="6400800"/>
            <a:ext cx="109724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PlotSure | ISBAT University | 2025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Rectangle 1"/>
          <p:cNvSpPr/>
          <p:nvPr/>
        </p:nvSpPr>
        <p:spPr>
          <a:xfrm>
            <a:off x="0" y="0"/>
            <a:ext cx="136800" cy="6857640"/>
          </a:xfrm>
          <a:prstGeom prst="rect">
            <a:avLst/>
          </a:prstGeom>
          <a:solidFill>
            <a:srgbClr val="1B433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9" name="TextBox 2"/>
          <p:cNvSpPr/>
          <p:nvPr/>
        </p:nvSpPr>
        <p:spPr>
          <a:xfrm>
            <a:off x="457200" y="274320"/>
            <a:ext cx="1097244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B4332"/>
                </a:solidFill>
                <a:effectLst/>
                <a:uFillTx/>
                <a:latin typeface="Calibri"/>
              </a:rPr>
              <a:t>15. Conclusion and Future Work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Rectangle 3"/>
          <p:cNvSpPr/>
          <p:nvPr/>
        </p:nvSpPr>
        <p:spPr>
          <a:xfrm>
            <a:off x="457200" y="868680"/>
            <a:ext cx="1828440" cy="36360"/>
          </a:xfrm>
          <a:prstGeom prst="rect">
            <a:avLst/>
          </a:prstGeom>
          <a:solidFill>
            <a:srgbClr val="D4A017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1" name="TextBox 4"/>
          <p:cNvSpPr/>
          <p:nvPr/>
        </p:nvSpPr>
        <p:spPr>
          <a:xfrm>
            <a:off x="640080" y="1188720"/>
            <a:ext cx="10515240" cy="12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PlotSure: fully functional, deployed, and tested MVP — fraud detection, price estimation, marketplace, and certificates — all on free infrastructure.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Near-term: GIS boundary checks, mobile money payments, real UgNLIS data feed via API integration.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Long-term: expand to Kenya and Tanzania with country-specific land data adapters.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Rectangle 5"/>
          <p:cNvSpPr/>
          <p:nvPr/>
        </p:nvSpPr>
        <p:spPr>
          <a:xfrm>
            <a:off x="1371600" y="4114800"/>
            <a:ext cx="9143640" cy="1371240"/>
          </a:xfrm>
          <a:prstGeom prst="rect">
            <a:avLst/>
          </a:prstGeom>
          <a:solidFill>
            <a:srgbClr val="1B433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3" name="TextBox 6"/>
          <p:cNvSpPr/>
          <p:nvPr/>
        </p:nvSpPr>
        <p:spPr>
          <a:xfrm>
            <a:off x="1828800" y="4297680"/>
            <a:ext cx="822924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“PlotSure shows that meaningful land transaction intelligence can be built on top of existing government infrastructure — without replacing it.”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Box 7"/>
          <p:cNvSpPr/>
          <p:nvPr/>
        </p:nvSpPr>
        <p:spPr>
          <a:xfrm>
            <a:off x="1828800" y="5029200"/>
            <a:ext cx="822924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D4A017"/>
                </a:solidFill>
                <a:effectLst/>
                <a:uFillTx/>
                <a:latin typeface="Calibri"/>
              </a:rPr>
              <a:t>— Joel Talemwa, ISBAT University, 2025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Box 8"/>
          <p:cNvSpPr/>
          <p:nvPr/>
        </p:nvSpPr>
        <p:spPr>
          <a:xfrm>
            <a:off x="457200" y="6400800"/>
            <a:ext cx="109724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PlotSure | ISBAT University | 2025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Application>LibreOffice/26.2.3.2$Linux_X86_64 LibreOffice_project/d4d5ed47b6084125f28d269a5650105d54dde034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2026-06-16T17:51:25Z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